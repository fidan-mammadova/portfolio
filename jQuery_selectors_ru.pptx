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4980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2C4A"/>
                </a:solidFill>
              </a:defRPr>
            </a:pPr>
            <a:r>
              <a:t>jQuery Селекторы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42424"/>
                </a:solidFill>
              </a:defRPr>
            </a:pPr>
            <a:r>
              <a:t>Академическая презентация: 5 слайдов</a:t>
            </a:r>
          </a:p>
          <a:p>
            <a:pPr>
              <a:spcAft>
                <a:spcPts val="1000"/>
              </a:spcAft>
              <a:defRPr sz="2300">
                <a:solidFill>
                  <a:srgbClr val="242424"/>
                </a:solidFill>
              </a:defRPr>
            </a:pPr>
            <a:r>
              <a:t>Уровень: новичок и средний</a:t>
            </a:r>
          </a:p>
          <a:p>
            <a:pPr>
              <a:spcAft>
                <a:spcPts val="1000"/>
              </a:spcAft>
              <a:defRPr sz="2300">
                <a:solidFill>
                  <a:srgbClr val="242424"/>
                </a:solidFill>
              </a:defRPr>
            </a:pPr>
            <a:r>
              <a:t>Цель: понять синтаксис и применять селекторы на практике</a:t>
            </a:r>
          </a:p>
        </p:txBody>
      </p:sp>
      <p:pic>
        <p:nvPicPr>
          <p:cNvPr id="4" name="Picture 3" descr="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97280"/>
            <a:ext cx="539496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C6675"/>
                </a:solidFill>
              </a:defRPr>
            </a:pPr>
            <a:r>
              <a:t>Тема: jQuery селекторы | Формат: академический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4980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2C4A"/>
                </a:solidFill>
              </a:defRPr>
            </a:pPr>
            <a:r>
              <a:t>1. Базовые селекторы (Новичок)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42424"/>
                </a:solidFill>
              </a:defRPr>
            </a:pPr>
            <a:r>
              <a:t>• Селектор по ID: $("#header")</a:t>
            </a:r>
          </a:p>
          <a:p>
            <a:pPr>
              <a:spcAft>
                <a:spcPts val="1000"/>
              </a:spcAft>
              <a:defRPr sz="2300">
                <a:solidFill>
                  <a:srgbClr val="242424"/>
                </a:solidFill>
              </a:defRPr>
            </a:pPr>
            <a:r>
              <a:t>• Селектор по классу: $(".item")</a:t>
            </a:r>
          </a:p>
          <a:p>
            <a:pPr>
              <a:spcAft>
                <a:spcPts val="1000"/>
              </a:spcAft>
              <a:defRPr sz="2300">
                <a:solidFill>
                  <a:srgbClr val="242424"/>
                </a:solidFill>
              </a:defRPr>
            </a:pPr>
            <a:r>
              <a:t>• Селектор по тегу: $("p")</a:t>
            </a:r>
          </a:p>
          <a:p>
            <a:pPr>
              <a:spcAft>
                <a:spcPts val="1000"/>
              </a:spcAft>
              <a:defRPr sz="2300">
                <a:solidFill>
                  <a:srgbClr val="242424"/>
                </a:solidFill>
              </a:defRPr>
            </a:pPr>
            <a:r>
              <a:t>• Каждый вариант выбирает набор HTML-элементов для дальнейших действий</a:t>
            </a:r>
          </a:p>
        </p:txBody>
      </p:sp>
      <p:pic>
        <p:nvPicPr>
          <p:cNvPr id="4" name="Picture 3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97280"/>
            <a:ext cx="539496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C6675"/>
                </a:solidFill>
              </a:defRPr>
            </a:pPr>
            <a:r>
              <a:t>Тема: jQuery селекторы | Формат: академический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4980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2C4A"/>
                </a:solidFill>
              </a:defRPr>
            </a:pPr>
            <a:r>
              <a:t>2. Комбинированные и контекстные селекторы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42424"/>
                </a:solidFill>
              </a:defRPr>
            </a:pPr>
            <a:r>
              <a:t>• Потомок: $("div p") — все &lt;p&gt; внутри &lt;div&gt;</a:t>
            </a:r>
          </a:p>
          <a:p>
            <a:pPr>
              <a:spcAft>
                <a:spcPts val="1000"/>
              </a:spcAft>
              <a:defRPr sz="2300">
                <a:solidFill>
                  <a:srgbClr val="242424"/>
                </a:solidFill>
              </a:defRPr>
            </a:pPr>
            <a:r>
              <a:t>• Прямой потомок: $("ul &gt; li") — только первый уровень вложенности</a:t>
            </a:r>
          </a:p>
          <a:p>
            <a:pPr>
              <a:spcAft>
                <a:spcPts val="1000"/>
              </a:spcAft>
              <a:defRPr sz="2300">
                <a:solidFill>
                  <a:srgbClr val="242424"/>
                </a:solidFill>
              </a:defRPr>
            </a:pPr>
            <a:r>
              <a:t>• Комбинация классов: $(".menu .active")</a:t>
            </a:r>
          </a:p>
          <a:p>
            <a:pPr>
              <a:spcAft>
                <a:spcPts val="1000"/>
              </a:spcAft>
              <a:defRPr sz="2300">
                <a:solidFill>
                  <a:srgbClr val="242424"/>
                </a:solidFill>
              </a:defRPr>
            </a:pPr>
            <a:r>
              <a:t>• Подход полезен для сложных интерфейсов и навигации</a:t>
            </a:r>
          </a:p>
        </p:txBody>
      </p:sp>
      <p:pic>
        <p:nvPicPr>
          <p:cNvPr id="4" name="Picture 3" descr="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97280"/>
            <a:ext cx="539496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C6675"/>
                </a:solidFill>
              </a:defRPr>
            </a:pPr>
            <a:r>
              <a:t>Тема: jQuery селекторы | Формат: академический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4980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2C4A"/>
                </a:solidFill>
              </a:defRPr>
            </a:pPr>
            <a:r>
              <a:t>3. Фильтры и псевдоселекторы (Средний)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42424"/>
                </a:solidFill>
              </a:defRPr>
            </a:pPr>
            <a:r>
              <a:t>• Позиционные: :first, :last, :eq(n)</a:t>
            </a:r>
          </a:p>
          <a:p>
            <a:pPr>
              <a:spcAft>
                <a:spcPts val="1000"/>
              </a:spcAft>
              <a:defRPr sz="2300">
                <a:solidFill>
                  <a:srgbClr val="242424"/>
                </a:solidFill>
              </a:defRPr>
            </a:pPr>
            <a:r>
              <a:t>• Логические: :not(selector)</a:t>
            </a:r>
          </a:p>
          <a:p>
            <a:pPr>
              <a:spcAft>
                <a:spcPts val="1000"/>
              </a:spcAft>
              <a:defRPr sz="2300">
                <a:solidFill>
                  <a:srgbClr val="242424"/>
                </a:solidFill>
              </a:defRPr>
            </a:pPr>
            <a:r>
              <a:t>• Состояние элементов: :visible, :checked</a:t>
            </a:r>
          </a:p>
          <a:p>
            <a:pPr>
              <a:spcAft>
                <a:spcPts val="1000"/>
              </a:spcAft>
              <a:defRPr sz="2300">
                <a:solidFill>
                  <a:srgbClr val="242424"/>
                </a:solidFill>
              </a:defRPr>
            </a:pPr>
            <a:r>
              <a:t>• Фильтры уменьшают выборку и повышают точность операций</a:t>
            </a:r>
          </a:p>
        </p:txBody>
      </p:sp>
      <p:pic>
        <p:nvPicPr>
          <p:cNvPr id="4" name="Picture 3" descr="sl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97280"/>
            <a:ext cx="539496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C6675"/>
                </a:solidFill>
              </a:defRPr>
            </a:pPr>
            <a:r>
              <a:t>Тема: jQuery селекторы | Формат: академический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4980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2C4A"/>
                </a:solidFill>
              </a:defRPr>
            </a:pPr>
            <a:r>
              <a:t>4. Практика, ошибки и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42424"/>
                </a:solidFill>
              </a:defRPr>
            </a:pPr>
            <a:r>
              <a:t>• Избегайте слишком общих селекторов, если нужен точный результат</a:t>
            </a:r>
          </a:p>
          <a:p>
            <a:pPr>
              <a:spcAft>
                <a:spcPts val="1000"/>
              </a:spcAft>
              <a:defRPr sz="2300">
                <a:solidFill>
                  <a:srgbClr val="242424"/>
                </a:solidFill>
              </a:defRPr>
            </a:pPr>
            <a:r>
              <a:t>• Кэшируйте часто используемые выборки в переменных</a:t>
            </a:r>
          </a:p>
          <a:p>
            <a:pPr>
              <a:spcAft>
                <a:spcPts val="1000"/>
              </a:spcAft>
              <a:defRPr sz="2300">
                <a:solidFill>
                  <a:srgbClr val="242424"/>
                </a:solidFill>
              </a:defRPr>
            </a:pPr>
            <a:r>
              <a:t>• Проверяйте структуру DOM перед написанием сложного выражения</a:t>
            </a:r>
          </a:p>
          <a:p>
            <a:pPr>
              <a:spcAft>
                <a:spcPts val="1000"/>
              </a:spcAft>
              <a:defRPr sz="2300">
                <a:solidFill>
                  <a:srgbClr val="242424"/>
                </a:solidFill>
              </a:defRPr>
            </a:pPr>
            <a:r>
              <a:t>• Применяйте селекторы как часть читаемого и поддерживаемого кода</a:t>
            </a:r>
          </a:p>
        </p:txBody>
      </p:sp>
      <p:pic>
        <p:nvPicPr>
          <p:cNvPr id="4" name="Picture 3" descr="slid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97280"/>
            <a:ext cx="539496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C6675"/>
                </a:solidFill>
              </a:defRPr>
            </a:pPr>
            <a:r>
              <a:t>Тема: jQuery селекторы | Формат: академический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